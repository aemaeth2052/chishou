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9525">
            <a:solidFill>
              <a:srgbClr val="D9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457200" y="731520"/>
            <a:ext cx="4663440" cy="4663440"/>
          </a:xfrm>
          <a:prstGeom prst="blockArc">
            <a:avLst>
              <a:gd name="adj1" fmla="val 18000000"/>
              <a:gd name="adj2" fmla="val 36000000"/>
              <a:gd name="adj3" fmla="val 25000"/>
            </a:avLst>
          </a:prstGeom>
          <a:solidFill>
            <a:srgbClr val="4F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lock Arc 4"/>
          <p:cNvSpPr/>
          <p:nvPr/>
        </p:nvSpPr>
        <p:spPr>
          <a:xfrm>
            <a:off x="822959" y="1097280"/>
            <a:ext cx="3931920" cy="3931920"/>
          </a:xfrm>
          <a:prstGeom prst="blockArc">
            <a:avLst>
              <a:gd name="adj1" fmla="val 18000000"/>
              <a:gd name="adj2" fmla="val 36000000"/>
              <a:gd name="adj3" fmla="val 25000"/>
            </a:avLst>
          </a:prstGeom>
          <a:solidFill>
            <a:srgbClr val="9CC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1161287" y="1435608"/>
            <a:ext cx="3255264" cy="3255264"/>
          </a:xfrm>
          <a:prstGeom prst="blockArc">
            <a:avLst>
              <a:gd name="adj1" fmla="val 18000000"/>
              <a:gd name="adj2" fmla="val 36000000"/>
              <a:gd name="adj3" fmla="val 25000"/>
            </a:avLst>
          </a:prstGeom>
          <a:solidFill>
            <a:srgbClr val="EFB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1490472" y="1764792"/>
            <a:ext cx="2596896" cy="2596896"/>
          </a:xfrm>
          <a:prstGeom prst="blockArc">
            <a:avLst>
              <a:gd name="adj1" fmla="val 18000000"/>
              <a:gd name="adj2" fmla="val 36000000"/>
              <a:gd name="adj3" fmla="val 25000"/>
            </a:avLst>
          </a:prstGeom>
          <a:solidFill>
            <a:srgbClr val="F4D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39" y="3044952"/>
            <a:ext cx="4937760" cy="2651760"/>
          </a:xfrm>
          <a:prstGeom prst="rect">
            <a:avLst/>
          </a:prstGeom>
          <a:solidFill>
            <a:srgbClr val="F5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2011679" y="3291840"/>
            <a:ext cx="1554480" cy="1554480"/>
          </a:xfrm>
          <a:prstGeom prst="diamond">
            <a:avLst/>
          </a:prstGeom>
          <a:noFill/>
          <a:ln w="2032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ord 9"/>
          <p:cNvSpPr/>
          <p:nvPr/>
        </p:nvSpPr>
        <p:spPr>
          <a:xfrm>
            <a:off x="594359" y="3063240"/>
            <a:ext cx="4389120" cy="4389120"/>
          </a:xfrm>
          <a:prstGeom prst="chord">
            <a:avLst/>
          </a:prstGeom>
          <a:noFill/>
          <a:ln w="1524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24327" y="3931920"/>
            <a:ext cx="329184" cy="329184"/>
          </a:xfrm>
          <a:prstGeom prst="ellipse">
            <a:avLst/>
          </a:prstGeom>
          <a:noFill/>
          <a:ln w="1524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486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B3A5E"/>
                </a:solidFill>
                <a:latin typeface="Yu Gothic"/>
                <a:ea typeface="Yu Gothic"/>
              </a:rPr>
              <a:t>地商ボールパークの地域</a:t>
            </a:r>
          </a:p>
          <a:p>
            <a:pPr algn="l"/>
            <a:r>
              <a:rPr sz="3800" b="1">
                <a:solidFill>
                  <a:srgbClr val="1B3A5E"/>
                </a:solidFill>
                <a:latin typeface="Yu Gothic"/>
                <a:ea typeface="Yu Gothic"/>
              </a:rPr>
              <a:t>共生に向けた運営構想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2044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55A60"/>
                </a:solidFill>
                <a:latin typeface="Yu Gothic"/>
                <a:ea typeface="Yu Gothic"/>
              </a:rPr>
              <a:t>加曽利町における「開かれた施設」</a:t>
            </a:r>
          </a:p>
          <a:p>
            <a:pPr algn="l"/>
            <a:r>
              <a:rPr sz="1800" b="0">
                <a:solidFill>
                  <a:srgbClr val="555A60"/>
                </a:solidFill>
                <a:latin typeface="Yu Gothic"/>
                <a:ea typeface="Yu Gothic"/>
              </a:rPr>
              <a:t>への移行と確実な管理体制の構築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19088" y="4892040"/>
            <a:ext cx="1828800" cy="27432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50749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3A5E"/>
                </a:solidFill>
                <a:latin typeface="Yu Gothic"/>
                <a:ea typeface="Yu Gothic"/>
              </a:rPr>
              <a:t>千葉市 ご説明資料 / 2026年6月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47395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3AE"/>
                </a:solidFill>
                <a:latin typeface="Yu Gothic"/>
                <a:ea typeface="Yu Gothic"/>
              </a:rPr>
              <a:t>◈ NotebookLM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93776"/>
            <a:ext cx="100584" cy="786384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E"/>
                </a:solidFill>
                <a:latin typeface="Yu Gothic"/>
                <a:ea typeface="Yu Gothic"/>
              </a:rPr>
              <a:t>単なる野球グラウンドから、</a:t>
            </a:r>
          </a:p>
          <a:p>
            <a:pPr algn="l"/>
            <a:r>
              <a:rPr sz="3000" b="1">
                <a:solidFill>
                  <a:srgbClr val="1B3A5E"/>
                </a:solidFill>
                <a:latin typeface="Yu Gothic"/>
                <a:ea typeface="Yu Gothic"/>
              </a:rPr>
              <a:t>地域に開かれた交流の場へ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443484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B3A5E"/>
                </a:solidFill>
                <a:latin typeface="Yu Gothic"/>
                <a:ea typeface="Yu Gothic"/>
              </a:rPr>
              <a:t>【現在】野球・スポーツ利用を中心とした</a:t>
            </a:r>
          </a:p>
          <a:p>
            <a:pPr algn="l"/>
            <a:r>
              <a:rPr sz="1450" b="1">
                <a:solidFill>
                  <a:srgbClr val="1B3A5E"/>
                </a:solidFill>
                <a:latin typeface="Yu Gothic"/>
                <a:ea typeface="Yu Gothic"/>
              </a:rPr>
              <a:t>単一目的の施設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063240"/>
            <a:ext cx="3794760" cy="2834640"/>
          </a:xfrm>
          <a:prstGeom prst="roundRect">
            <a:avLst>
              <a:gd name="adj" fmla="val 3000"/>
            </a:avLst>
          </a:prstGeom>
          <a:solidFill>
            <a:srgbClr val="EEEEE9"/>
          </a:solidFill>
          <a:ln w="12700">
            <a:solidFill>
              <a:srgbClr val="9AA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246120"/>
            <a:ext cx="10972" cy="1188720"/>
          </a:xfrm>
          <a:prstGeom prst="rect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63624" y="3246120"/>
            <a:ext cx="10972" cy="1188720"/>
          </a:xfrm>
          <a:prstGeom prst="rect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84248" y="3246120"/>
            <a:ext cx="10972" cy="1188720"/>
          </a:xfrm>
          <a:prstGeom prst="rect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3246120"/>
            <a:ext cx="10972" cy="1188720"/>
          </a:xfrm>
          <a:prstGeom prst="rect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25496" y="3246120"/>
            <a:ext cx="10972" cy="1188720"/>
          </a:xfrm>
          <a:prstGeom prst="rect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3246120"/>
            <a:ext cx="10972" cy="1188720"/>
          </a:xfrm>
          <a:prstGeom prst="rect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66744" y="3246120"/>
            <a:ext cx="10972" cy="1188720"/>
          </a:xfrm>
          <a:prstGeom prst="rect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87368" y="3246120"/>
            <a:ext cx="10972" cy="1188720"/>
          </a:xfrm>
          <a:prstGeom prst="rect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07992" y="3246120"/>
            <a:ext cx="10972" cy="1188720"/>
          </a:xfrm>
          <a:prstGeom prst="rect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246120"/>
            <a:ext cx="3611880" cy="10972"/>
          </a:xfrm>
          <a:prstGeom prst="rect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3657600"/>
            <a:ext cx="3611880" cy="10972"/>
          </a:xfrm>
          <a:prstGeom prst="rect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069080"/>
            <a:ext cx="3611880" cy="10972"/>
          </a:xfrm>
          <a:prstGeom prst="rect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74519" y="4572000"/>
            <a:ext cx="1874519" cy="1143000"/>
          </a:xfrm>
          <a:prstGeom prst="rect">
            <a:avLst/>
          </a:prstGeom>
          <a:solidFill>
            <a:srgbClr val="E0E0DA"/>
          </a:solidFill>
          <a:ln w="15240">
            <a:solidFill>
              <a:srgbClr val="9AA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07208" y="4572000"/>
            <a:ext cx="18288" cy="1143000"/>
          </a:xfrm>
          <a:prstGeom prst="rect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97480" y="3246120"/>
            <a:ext cx="256032" cy="256032"/>
          </a:xfrm>
          <a:prstGeom prst="ellipse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0" y="3502152"/>
            <a:ext cx="164592" cy="502920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14032" y="1874519"/>
            <a:ext cx="443484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2631" y="2103120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B3A5E"/>
                </a:solidFill>
                <a:latin typeface="Yu Gothic"/>
                <a:ea typeface="Yu Gothic"/>
              </a:rPr>
              <a:t>【今後】平時から人が集まり、顔の見える</a:t>
            </a:r>
          </a:p>
          <a:p>
            <a:pPr algn="l"/>
            <a:r>
              <a:rPr sz="1450" b="1">
                <a:solidFill>
                  <a:srgbClr val="1B3A5E"/>
                </a:solidFill>
                <a:latin typeface="Yu Gothic"/>
                <a:ea typeface="Yu Gothic"/>
              </a:rPr>
              <a:t>関係をつくる多目的スペース</a:t>
            </a:r>
          </a:p>
        </p:txBody>
      </p:sp>
      <p:sp>
        <p:nvSpPr>
          <p:cNvPr id="26" name="Oval 25"/>
          <p:cNvSpPr/>
          <p:nvPr/>
        </p:nvSpPr>
        <p:spPr>
          <a:xfrm>
            <a:off x="7863840" y="3383280"/>
            <a:ext cx="292608" cy="292608"/>
          </a:xfrm>
          <a:prstGeom prst="ellipse">
            <a:avLst/>
          </a:prstGeom>
          <a:solidFill>
            <a:srgbClr val="4F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45552" y="3694176"/>
            <a:ext cx="329184" cy="457200"/>
          </a:xfrm>
          <a:prstGeom prst="roundRect">
            <a:avLst>
              <a:gd name="adj" fmla="val 40000"/>
            </a:avLst>
          </a:prstGeom>
          <a:solidFill>
            <a:srgbClr val="4F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41280" y="3246120"/>
            <a:ext cx="292608" cy="292608"/>
          </a:xfrm>
          <a:prstGeom prst="ellipse">
            <a:avLst/>
          </a:prstGeom>
          <a:solidFill>
            <a:srgbClr val="EFB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222992" y="3557015"/>
            <a:ext cx="329184" cy="457200"/>
          </a:xfrm>
          <a:prstGeom prst="roundRect">
            <a:avLst>
              <a:gd name="adj" fmla="val 40000"/>
            </a:avLst>
          </a:prstGeom>
          <a:solidFill>
            <a:srgbClr val="EFB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44200" y="3383280"/>
            <a:ext cx="292608" cy="292608"/>
          </a:xfrm>
          <a:prstGeom prst="ellipse">
            <a:avLst/>
          </a:prstGeom>
          <a:solidFill>
            <a:srgbClr val="EFB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725912" y="3694176"/>
            <a:ext cx="329184" cy="457200"/>
          </a:xfrm>
          <a:prstGeom prst="roundRect">
            <a:avLst>
              <a:gd name="adj" fmla="val 40000"/>
            </a:avLst>
          </a:prstGeom>
          <a:solidFill>
            <a:srgbClr val="EFB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84080" y="3474720"/>
            <a:ext cx="292608" cy="292608"/>
          </a:xfrm>
          <a:prstGeom prst="ellipse">
            <a:avLst/>
          </a:prstGeom>
          <a:solidFill>
            <a:srgbClr val="EFB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65792" y="3785615"/>
            <a:ext cx="329184" cy="457200"/>
          </a:xfrm>
          <a:prstGeom prst="roundRect">
            <a:avLst>
              <a:gd name="adj" fmla="val 40000"/>
            </a:avLst>
          </a:prstGeom>
          <a:solidFill>
            <a:srgbClr val="EFB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27080" y="3657600"/>
            <a:ext cx="292608" cy="292608"/>
          </a:xfrm>
          <a:prstGeom prst="ellipse">
            <a:avLst/>
          </a:prstGeom>
          <a:solidFill>
            <a:srgbClr val="EFB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908792" y="3968496"/>
            <a:ext cx="329184" cy="457200"/>
          </a:xfrm>
          <a:prstGeom prst="roundRect">
            <a:avLst>
              <a:gd name="adj" fmla="val 40000"/>
            </a:avLst>
          </a:prstGeom>
          <a:solidFill>
            <a:srgbClr val="EFB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95360" y="4937760"/>
            <a:ext cx="292608" cy="292608"/>
          </a:xfrm>
          <a:prstGeom prst="ellipse">
            <a:avLst/>
          </a:prstGeom>
          <a:solidFill>
            <a:srgbClr val="C46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77072" y="5248656"/>
            <a:ext cx="329184" cy="457200"/>
          </a:xfrm>
          <a:prstGeom prst="roundRect">
            <a:avLst>
              <a:gd name="adj" fmla="val 40000"/>
            </a:avLst>
          </a:prstGeom>
          <a:solidFill>
            <a:srgbClr val="C46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144000" y="5029200"/>
            <a:ext cx="292608" cy="292608"/>
          </a:xfrm>
          <a:prstGeom prst="ellipse">
            <a:avLst/>
          </a:prstGeom>
          <a:solidFill>
            <a:srgbClr val="C46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25712" y="5340096"/>
            <a:ext cx="329184" cy="457200"/>
          </a:xfrm>
          <a:prstGeom prst="roundRect">
            <a:avLst>
              <a:gd name="adj" fmla="val 40000"/>
            </a:avLst>
          </a:prstGeom>
          <a:solidFill>
            <a:srgbClr val="C46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692640" y="4937760"/>
            <a:ext cx="292608" cy="292608"/>
          </a:xfrm>
          <a:prstGeom prst="ellipse">
            <a:avLst/>
          </a:prstGeom>
          <a:solidFill>
            <a:srgbClr val="C46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74352" y="5248656"/>
            <a:ext cx="329184" cy="457200"/>
          </a:xfrm>
          <a:prstGeom prst="roundRect">
            <a:avLst>
              <a:gd name="adj" fmla="val 40000"/>
            </a:avLst>
          </a:prstGeom>
          <a:solidFill>
            <a:srgbClr val="C46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0" y="5257800"/>
            <a:ext cx="2194560" cy="457200"/>
          </a:xfrm>
          <a:prstGeom prst="roundRect">
            <a:avLst>
              <a:gd name="adj" fmla="val 30000"/>
            </a:avLst>
          </a:prstGeom>
          <a:solidFill>
            <a:srgbClr val="D8CBBE"/>
          </a:solidFill>
          <a:ln w="12700">
            <a:solidFill>
              <a:srgbClr val="C46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5212080" y="2788920"/>
            <a:ext cx="1828800" cy="9144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FFFF"/>
          </a:solidFill>
          <a:ln w="25400">
            <a:solidFill>
              <a:srgbClr val="4F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38928" y="2770632"/>
            <a:ext cx="1691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B3A5E"/>
                </a:solidFill>
                <a:latin typeface="Yu Gothic"/>
                <a:ea typeface="Yu Gothic"/>
              </a:rPr>
              <a:t>特定層の利用</a:t>
            </a:r>
          </a:p>
          <a:p>
            <a:pPr algn="ctr"/>
            <a:r>
              <a:rPr sz="1150" b="1">
                <a:solidFill>
                  <a:srgbClr val="4F8C3F"/>
                </a:solidFill>
                <a:latin typeface="Yu Gothic"/>
                <a:ea typeface="Yu Gothic"/>
              </a:rPr>
              <a:t>→ 多世代の交流</a:t>
            </a:r>
          </a:p>
          <a:p>
            <a:pPr algn="ctr"/>
            <a:r>
              <a:rPr sz="850" b="0">
                <a:solidFill>
                  <a:srgbClr val="555A60"/>
                </a:solidFill>
                <a:latin typeface="Yu Gothic"/>
                <a:ea typeface="Yu Gothic"/>
              </a:rPr>
              <a:t>（少年野球から高齢者まで）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212080" y="3886200"/>
            <a:ext cx="1828800" cy="9144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FFFF"/>
          </a:solidFill>
          <a:ln w="25400">
            <a:solidFill>
              <a:srgbClr val="EFB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38928" y="3867912"/>
            <a:ext cx="1691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B3A5E"/>
                </a:solidFill>
                <a:latin typeface="Yu Gothic"/>
                <a:ea typeface="Yu Gothic"/>
              </a:rPr>
              <a:t>週末だけの稼働</a:t>
            </a:r>
          </a:p>
          <a:p>
            <a:pPr algn="ctr"/>
            <a:r>
              <a:rPr sz="1150" b="1">
                <a:solidFill>
                  <a:srgbClr val="EFB61E"/>
                </a:solidFill>
                <a:latin typeface="Yu Gothic"/>
                <a:ea typeface="Yu Gothic"/>
              </a:rPr>
              <a:t>→ 平日を含めた</a:t>
            </a:r>
          </a:p>
          <a:p>
            <a:pPr algn="ctr"/>
            <a:r>
              <a:rPr sz="1150" b="1">
                <a:solidFill>
                  <a:srgbClr val="1B3A5E"/>
                </a:solidFill>
                <a:latin typeface="Yu Gothic"/>
                <a:ea typeface="Yu Gothic"/>
              </a:rPr>
              <a:t>日常的な活用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5212080" y="4983480"/>
            <a:ext cx="1828800" cy="9144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FFFF"/>
          </a:solidFill>
          <a:ln w="25400">
            <a:solidFill>
              <a:srgbClr val="C46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38928" y="4965192"/>
            <a:ext cx="1691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B3A5E"/>
                </a:solidFill>
                <a:latin typeface="Yu Gothic"/>
                <a:ea typeface="Yu Gothic"/>
              </a:rPr>
              <a:t>スポーツ専用</a:t>
            </a:r>
          </a:p>
          <a:p>
            <a:pPr algn="ctr"/>
            <a:r>
              <a:rPr sz="1150" b="1">
                <a:solidFill>
                  <a:srgbClr val="C4633C"/>
                </a:solidFill>
                <a:latin typeface="Yu Gothic"/>
                <a:ea typeface="Yu Gothic"/>
              </a:rPr>
              <a:t>→ 学び・健康づくり・</a:t>
            </a:r>
          </a:p>
          <a:p>
            <a:pPr algn="ctr"/>
            <a:r>
              <a:rPr sz="1150" b="1">
                <a:solidFill>
                  <a:srgbClr val="1B3A5E"/>
                </a:solidFill>
                <a:latin typeface="Yu Gothic"/>
                <a:ea typeface="Yu Gothic"/>
              </a:rPr>
              <a:t>地域行事の舞台へ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71455" y="647395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3AE"/>
                </a:solidFill>
                <a:latin typeface="Yu Gothic"/>
                <a:ea typeface="Yu Gothic"/>
              </a:rPr>
              <a:t>◈ NotebookLM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93776"/>
            <a:ext cx="100584" cy="786384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E"/>
                </a:solidFill>
                <a:latin typeface="Yu Gothic"/>
                <a:ea typeface="Yu Gothic"/>
              </a:rPr>
              <a:t>責任主体を明確化する</a:t>
            </a:r>
          </a:p>
          <a:p>
            <a:pPr algn="l"/>
            <a:r>
              <a:rPr sz="3000" b="1">
                <a:solidFill>
                  <a:srgbClr val="1B3A5E"/>
                </a:solidFill>
                <a:latin typeface="Yu Gothic"/>
                <a:ea typeface="Yu Gothic"/>
              </a:rPr>
              <a:t>「一般社団法人」設立の目的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97480"/>
            <a:ext cx="1600200" cy="914400"/>
          </a:xfrm>
          <a:prstGeom prst="rect">
            <a:avLst/>
          </a:prstGeom>
          <a:solidFill>
            <a:srgbClr val="CE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697480"/>
            <a:ext cx="15636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B3A5E"/>
                </a:solidFill>
                <a:latin typeface="Yu Gothic"/>
                <a:ea typeface="Yu Gothic"/>
              </a:rPr>
              <a:t>営利性・公益性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03320"/>
            <a:ext cx="1600200" cy="914400"/>
          </a:xfrm>
          <a:prstGeom prst="rect">
            <a:avLst/>
          </a:prstGeom>
          <a:solidFill>
            <a:srgbClr val="CE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15636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B3A5E"/>
                </a:solidFill>
                <a:latin typeface="Yu Gothic"/>
                <a:ea typeface="Yu Gothic"/>
              </a:rPr>
              <a:t>責任の所在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709160"/>
            <a:ext cx="1600200" cy="914400"/>
          </a:xfrm>
          <a:prstGeom prst="rect">
            <a:avLst/>
          </a:prstGeom>
          <a:solidFill>
            <a:srgbClr val="CE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709160"/>
            <a:ext cx="15636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B3A5E"/>
                </a:solidFill>
                <a:latin typeface="Yu Gothic"/>
                <a:ea typeface="Yu Gothic"/>
              </a:rPr>
              <a:t>会計・記録管理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178308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783080"/>
            <a:ext cx="2468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B3A5E"/>
                </a:solidFill>
                <a:latin typeface="Yu Gothic"/>
                <a:ea typeface="Yu Gothic"/>
              </a:rPr>
              <a:t>株式会社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269748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269748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営利目的の</a:t>
            </a:r>
          </a:p>
          <a:p>
            <a:pPr algn="ctr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印象が強い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370332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370332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明確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470916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470916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厳格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178308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1783080"/>
            <a:ext cx="2468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B3A5E"/>
                </a:solidFill>
                <a:latin typeface="Yu Gothic"/>
                <a:ea typeface="Yu Gothic"/>
              </a:rPr>
              <a:t>任意団体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269748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69748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公益性は高いが</a:t>
            </a:r>
          </a:p>
          <a:p>
            <a:pPr algn="ctr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持続性に課題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370332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370332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曖昧になりやすい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470916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470916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不透明になるリスク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178308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FBF0D4"/>
          </a:solidFill>
          <a:ln w="31750">
            <a:solidFill>
              <a:srgbClr val="EFB61E"/>
            </a:solidFill>
          </a:ln>
          <a:effectLst/>
          <a:effectLst>
            <a:outerShdw blurRad="40000" dist="25000" dir="5400000" rotWithShape="0">
              <a:srgbClr val="2A2A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79" y="1783080"/>
            <a:ext cx="2468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B3A5E"/>
                </a:solidFill>
                <a:latin typeface="Yu Gothic"/>
                <a:ea typeface="Yu Gothic"/>
              </a:rPr>
              <a:t>一般社団法人</a:t>
            </a:r>
          </a:p>
        </p:txBody>
      </p:sp>
      <p:sp>
        <p:nvSpPr>
          <p:cNvPr id="29" name="Oval 28"/>
          <p:cNvSpPr/>
          <p:nvPr/>
        </p:nvSpPr>
        <p:spPr>
          <a:xfrm>
            <a:off x="9692639" y="1463040"/>
            <a:ext cx="640080" cy="640080"/>
          </a:xfrm>
          <a:prstGeom prst="ellipse">
            <a:avLst/>
          </a:prstGeom>
          <a:solidFill>
            <a:srgbClr val="EFB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39" y="14630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2697480"/>
            <a:ext cx="2468880" cy="914400"/>
          </a:xfrm>
          <a:prstGeom prst="rect">
            <a:avLst/>
          </a:prstGeom>
          <a:solidFill>
            <a:srgbClr val="FBF0D4"/>
          </a:solidFill>
          <a:ln w="19050">
            <a:solidFill>
              <a:srgbClr val="EFB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79" y="269748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公益性を担保し</a:t>
            </a:r>
          </a:p>
          <a:p>
            <a:pPr algn="ctr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地域貢献に専念できる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3703320"/>
            <a:ext cx="2468880" cy="914400"/>
          </a:xfrm>
          <a:prstGeom prst="rect">
            <a:avLst/>
          </a:prstGeom>
          <a:solidFill>
            <a:srgbClr val="FBF0D4"/>
          </a:solidFill>
          <a:ln w="19050">
            <a:solidFill>
              <a:srgbClr val="EFB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79" y="370332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法人格により責任主体が明確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79" y="4709160"/>
            <a:ext cx="2468880" cy="914400"/>
          </a:xfrm>
          <a:prstGeom prst="rect">
            <a:avLst/>
          </a:prstGeom>
          <a:solidFill>
            <a:srgbClr val="FBF0D4"/>
          </a:solidFill>
          <a:ln w="19050">
            <a:solidFill>
              <a:srgbClr val="EFB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79" y="470916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厳格なルールと</a:t>
            </a:r>
          </a:p>
          <a:p>
            <a:pPr algn="ctr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記録管理の徹底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806440"/>
            <a:ext cx="10911535" cy="713232"/>
          </a:xfrm>
          <a:prstGeom prst="roundRect">
            <a:avLst>
              <a:gd name="adj" fmla="val 18000"/>
            </a:avLst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806440"/>
            <a:ext cx="1054577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地域や関係団体と連携する際の「信頼できる窓口」として、一般社団法人を設立します。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71455" y="647395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3AE"/>
                </a:solidFill>
                <a:latin typeface="Yu Gothic"/>
                <a:ea typeface="Yu Gothic"/>
              </a:rPr>
              <a:t>◈ NotebookLM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93776"/>
            <a:ext cx="100584" cy="475488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8229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E"/>
                </a:solidFill>
                <a:latin typeface="Yu Gothic"/>
                <a:ea typeface="Yu Gothic"/>
              </a:rPr>
              <a:t>各主体の役割を分担した確実な運営体制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457200"/>
            <a:ext cx="3017520" cy="868680"/>
          </a:xfrm>
          <a:prstGeom prst="roundRect">
            <a:avLst>
              <a:gd name="adj" fmla="val 12000"/>
            </a:avLst>
          </a:prstGeom>
          <a:solidFill>
            <a:srgbClr val="F5F3EA"/>
          </a:solidFill>
          <a:ln w="15240">
            <a:solidFill>
              <a:srgbClr val="EFB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5720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B3A5E"/>
                </a:solidFill>
                <a:latin typeface="Yu Gothic"/>
                <a:ea typeface="Yu Gothic"/>
              </a:rPr>
              <a:t>「責任者、連絡窓口、現場管理者を</a:t>
            </a:r>
          </a:p>
          <a:p>
            <a:pPr algn="ctr"/>
            <a:r>
              <a:rPr sz="1250" b="1">
                <a:solidFill>
                  <a:srgbClr val="1B3A5E"/>
                </a:solidFill>
                <a:latin typeface="Yu Gothic"/>
                <a:ea typeface="Yu Gothic"/>
              </a:rPr>
              <a:t>明確に分離・配置します」</a:t>
            </a:r>
          </a:p>
        </p:txBody>
      </p:sp>
      <p:sp>
        <p:nvSpPr>
          <p:cNvPr id="7" name="Diamond 6"/>
          <p:cNvSpPr/>
          <p:nvPr/>
        </p:nvSpPr>
        <p:spPr>
          <a:xfrm>
            <a:off x="4663440" y="2560320"/>
            <a:ext cx="2651760" cy="2651760"/>
          </a:xfrm>
          <a:prstGeom prst="diamond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3200400"/>
            <a:ext cx="22860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Yu Gothic"/>
                <a:ea typeface="Yu Gothic"/>
              </a:rPr>
              <a:t>一般社団法人</a:t>
            </a:r>
          </a:p>
          <a:p>
            <a:pPr algn="ctr"/>
            <a:r>
              <a:rPr sz="400" b="0">
                <a:solidFill>
                  <a:srgbClr val="FFFFFF"/>
                </a:solidFill>
                <a:latin typeface="Yu Gothic"/>
                <a:ea typeface="Yu Gothic"/>
              </a:rPr>
              <a:t/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企画、運営方針、地域連携、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公益性の担保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508760"/>
            <a:ext cx="2926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7940">
            <a:solidFill>
              <a:srgbClr val="C46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18488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3A5E"/>
                </a:solidFill>
                <a:latin typeface="Yu Gothic"/>
                <a:ea typeface="Yu Gothic"/>
              </a:rPr>
              <a:t>行政・関係機関</a:t>
            </a:r>
          </a:p>
          <a:p>
            <a:pPr algn="ctr"/>
            <a:r>
              <a:rPr sz="1100" b="0">
                <a:solidFill>
                  <a:srgbClr val="555A60"/>
                </a:solidFill>
                <a:latin typeface="Yu Gothic"/>
                <a:ea typeface="Yu Gothic"/>
              </a:rPr>
              <a:t>地域活動に関する助言、必要に応じた連携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29260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7940">
            <a:solidFill>
              <a:srgbClr val="3E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3355848"/>
            <a:ext cx="2743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3A5E"/>
                </a:solidFill>
                <a:latin typeface="Yu Gothic"/>
                <a:ea typeface="Yu Gothic"/>
              </a:rPr>
              <a:t>地商総業</a:t>
            </a:r>
          </a:p>
          <a:p>
            <a:pPr algn="ctr"/>
            <a:r>
              <a:rPr sz="1100" b="0">
                <a:solidFill>
                  <a:srgbClr val="555A60"/>
                </a:solidFill>
                <a:latin typeface="Yu Gothic"/>
                <a:ea typeface="Yu Gothic"/>
              </a:rPr>
              <a:t>土地・施設に関する方針、</a:t>
            </a:r>
          </a:p>
          <a:p>
            <a:pPr algn="ctr"/>
            <a:r>
              <a:rPr sz="1100" b="0">
                <a:solidFill>
                  <a:srgbClr val="555A60"/>
                </a:solidFill>
                <a:latin typeface="Yu Gothic"/>
                <a:ea typeface="Yu Gothic"/>
              </a:rPr>
              <a:t>必要な維持管理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246120"/>
            <a:ext cx="29260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7940">
            <a:solidFill>
              <a:srgbClr val="4F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3355848"/>
            <a:ext cx="2743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3A5E"/>
                </a:solidFill>
                <a:latin typeface="Yu Gothic"/>
                <a:ea typeface="Yu Gothic"/>
              </a:rPr>
              <a:t>地域団体</a:t>
            </a:r>
          </a:p>
          <a:p>
            <a:pPr algn="ctr"/>
            <a:r>
              <a:rPr sz="1100" b="0">
                <a:solidFill>
                  <a:srgbClr val="555A60"/>
                </a:solidFill>
                <a:latin typeface="Yu Gothic"/>
                <a:ea typeface="Yu Gothic"/>
              </a:rPr>
              <a:t>利用、協力、イベント、</a:t>
            </a:r>
          </a:p>
          <a:p>
            <a:pPr algn="ctr"/>
            <a:r>
              <a:rPr sz="1100" b="0">
                <a:solidFill>
                  <a:srgbClr val="555A60"/>
                </a:solidFill>
                <a:latin typeface="Yu Gothic"/>
                <a:ea typeface="Yu Gothic"/>
              </a:rPr>
              <a:t>地域活動への参加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5394960"/>
            <a:ext cx="2926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7940">
            <a:solidFill>
              <a:srgbClr val="9AA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5504688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3A5E"/>
                </a:solidFill>
                <a:latin typeface="Yu Gothic"/>
                <a:ea typeface="Yu Gothic"/>
              </a:rPr>
              <a:t>実務協力会社</a:t>
            </a:r>
          </a:p>
          <a:p>
            <a:pPr algn="ctr"/>
            <a:r>
              <a:rPr sz="1100" b="0">
                <a:solidFill>
                  <a:srgbClr val="555A60"/>
                </a:solidFill>
                <a:latin typeface="Yu Gothic"/>
                <a:ea typeface="Yu Gothic"/>
              </a:rPr>
              <a:t>清掃、草刈り、駐車場管理、設備確認、現場対応</a:t>
            </a:r>
          </a:p>
        </p:txBody>
      </p:sp>
      <p:sp>
        <p:nvSpPr>
          <p:cNvPr id="17" name="Up-Down Arrow 16"/>
          <p:cNvSpPr/>
          <p:nvPr/>
        </p:nvSpPr>
        <p:spPr>
          <a:xfrm>
            <a:off x="5806440" y="2450592"/>
            <a:ext cx="365760" cy="411480"/>
          </a:xfrm>
          <a:prstGeom prst="upDownArrow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p-Down Arrow 17"/>
          <p:cNvSpPr/>
          <p:nvPr/>
        </p:nvSpPr>
        <p:spPr>
          <a:xfrm>
            <a:off x="5806440" y="4892040"/>
            <a:ext cx="365760" cy="411480"/>
          </a:xfrm>
          <a:prstGeom prst="upDownArrow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-Right Arrow 18"/>
          <p:cNvSpPr/>
          <p:nvPr/>
        </p:nvSpPr>
        <p:spPr>
          <a:xfrm>
            <a:off x="3611880" y="3703320"/>
            <a:ext cx="822960" cy="365760"/>
          </a:xfrm>
          <a:prstGeom prst="leftRightArrow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-Right Arrow 19"/>
          <p:cNvSpPr/>
          <p:nvPr/>
        </p:nvSpPr>
        <p:spPr>
          <a:xfrm>
            <a:off x="7543800" y="3703320"/>
            <a:ext cx="822960" cy="365760"/>
          </a:xfrm>
          <a:prstGeom prst="leftRightArrow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71455" y="647395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3AE"/>
                </a:solidFill>
                <a:latin typeface="Yu Gothic"/>
                <a:ea typeface="Yu Gothic"/>
              </a:rPr>
              <a:t>◈ NotebookLM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93776"/>
            <a:ext cx="100584" cy="475488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E"/>
                </a:solidFill>
                <a:latin typeface="Yu Gothic"/>
                <a:ea typeface="Yu Gothic"/>
              </a:rPr>
              <a:t>理念だけでは不十分。最優先される「平時の管理体制」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234440"/>
          </a:xfrm>
          <a:prstGeom prst="roundRect">
            <a:avLst>
              <a:gd name="adj" fmla="val 8000"/>
            </a:avLst>
          </a:prstGeom>
          <a:solidFill>
            <a:srgbClr val="E3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4577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42C47"/>
                </a:solidFill>
                <a:latin typeface="Yu Gothic"/>
                <a:ea typeface="Yu Gothic"/>
              </a:rPr>
              <a:t>地域に安心して使っていただくため、</a:t>
            </a:r>
          </a:p>
          <a:p>
            <a:pPr algn="ctr"/>
            <a:r>
              <a:rPr sz="1900" b="1">
                <a:solidFill>
                  <a:srgbClr val="142C47"/>
                </a:solidFill>
                <a:latin typeface="Yu Gothic"/>
                <a:ea typeface="Yu Gothic"/>
              </a:rPr>
              <a:t>まずは平時の管理体制を整えることを最優先にします。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63240"/>
            <a:ext cx="3337560" cy="3246120"/>
          </a:xfrm>
          <a:prstGeom prst="rect">
            <a:avLst/>
          </a:prstGeom>
          <a:solidFill>
            <a:srgbClr val="CB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063240"/>
            <a:ext cx="3337560" cy="640080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337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Yu Gothic"/>
                <a:ea typeface="Yu Gothic"/>
              </a:rPr>
              <a:t>1. 施設・インフラ管理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886200"/>
            <a:ext cx="2788920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3886200"/>
            <a:ext cx="27523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B3A5E"/>
                </a:solidFill>
                <a:latin typeface="Yu Gothic"/>
                <a:ea typeface="Yu Gothic"/>
              </a:rPr>
              <a:t>駐車場利用ルール</a:t>
            </a:r>
          </a:p>
          <a:p>
            <a:pPr algn="ctr"/>
            <a:r>
              <a:rPr sz="1200" b="0">
                <a:solidFill>
                  <a:srgbClr val="1B3A5E"/>
                </a:solidFill>
                <a:latin typeface="Yu Gothic"/>
                <a:ea typeface="Yu Gothic"/>
              </a:rPr>
              <a:t>（無断駐車・放置車両対応）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690872"/>
            <a:ext cx="27889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4690872"/>
            <a:ext cx="2752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B3A5E"/>
                </a:solidFill>
                <a:latin typeface="Yu Gothic"/>
                <a:ea typeface="Yu Gothic"/>
              </a:rPr>
              <a:t>ゴミ、清掃、草刈りの徹底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5294376"/>
            <a:ext cx="27889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5294376"/>
            <a:ext cx="2752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B3A5E"/>
                </a:solidFill>
                <a:latin typeface="Yu Gothic"/>
                <a:ea typeface="Yu Gothic"/>
              </a:rPr>
              <a:t>トイレ・衛生環境の改善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897880"/>
            <a:ext cx="27889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5897880"/>
            <a:ext cx="2752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B3A5E"/>
                </a:solidFill>
                <a:latin typeface="Yu Gothic"/>
                <a:ea typeface="Yu Gothic"/>
              </a:rPr>
              <a:t>鍵・設備・備品の管理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3063240"/>
            <a:ext cx="3337560" cy="3246120"/>
          </a:xfrm>
          <a:prstGeom prst="rect">
            <a:avLst/>
          </a:prstGeom>
          <a:solidFill>
            <a:srgbClr val="CB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3063240"/>
            <a:ext cx="3337560" cy="640080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2" y="3063240"/>
            <a:ext cx="3337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Yu Gothic"/>
                <a:ea typeface="Yu Gothic"/>
              </a:rPr>
              <a:t>2. 安全・トラブル対応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3886200"/>
            <a:ext cx="2788920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886200"/>
            <a:ext cx="27523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B3A5E"/>
                </a:solidFill>
                <a:latin typeface="Yu Gothic"/>
                <a:ea typeface="Yu Gothic"/>
              </a:rPr>
              <a:t>事故・ケガ・トラブル</a:t>
            </a:r>
          </a:p>
          <a:p>
            <a:pPr algn="ctr"/>
            <a:r>
              <a:rPr sz="1200" b="0">
                <a:solidFill>
                  <a:srgbClr val="1B3A5E"/>
                </a:solidFill>
                <a:latin typeface="Yu Gothic"/>
                <a:ea typeface="Yu Gothic"/>
              </a:rPr>
              <a:t>発生時の対応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45152" y="4690872"/>
            <a:ext cx="27889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690872"/>
            <a:ext cx="2752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B3A5E"/>
                </a:solidFill>
                <a:latin typeface="Yu Gothic"/>
                <a:ea typeface="Yu Gothic"/>
              </a:rPr>
              <a:t>近隣苦情への迅速な対応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45152" y="5294376"/>
            <a:ext cx="27889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5294376"/>
            <a:ext cx="2752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B3A5E"/>
                </a:solidFill>
                <a:latin typeface="Yu Gothic"/>
                <a:ea typeface="Yu Gothic"/>
              </a:rPr>
              <a:t>緊急時の連絡体制の確立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64424" y="3063240"/>
            <a:ext cx="3337560" cy="3246120"/>
          </a:xfrm>
          <a:prstGeom prst="rect">
            <a:avLst/>
          </a:prstGeom>
          <a:solidFill>
            <a:srgbClr val="CB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64424" y="3063240"/>
            <a:ext cx="3337560" cy="640080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64424" y="3063240"/>
            <a:ext cx="3337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Yu Gothic"/>
                <a:ea typeface="Yu Gothic"/>
              </a:rPr>
              <a:t>3. 運営・記録管理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38744" y="3886200"/>
            <a:ext cx="27889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2" y="3886200"/>
            <a:ext cx="2752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B3A5E"/>
                </a:solidFill>
                <a:latin typeface="Yu Gothic"/>
                <a:ea typeface="Yu Gothic"/>
              </a:rPr>
              <a:t>利用申込ルールの厳格化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38744" y="4489704"/>
            <a:ext cx="27889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2" y="4489704"/>
            <a:ext cx="2752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B3A5E"/>
                </a:solidFill>
                <a:latin typeface="Yu Gothic"/>
                <a:ea typeface="Yu Gothic"/>
              </a:rPr>
              <a:t>利用時間・方法の明確化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38744" y="5093208"/>
            <a:ext cx="2788920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2" y="5093208"/>
            <a:ext cx="27523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B3A5E"/>
                </a:solidFill>
                <a:latin typeface="Yu Gothic"/>
                <a:ea typeface="Yu Gothic"/>
              </a:rPr>
              <a:t>活動記録・会計記録の</a:t>
            </a:r>
          </a:p>
          <a:p>
            <a:pPr algn="ctr"/>
            <a:r>
              <a:rPr sz="1200" b="0">
                <a:solidFill>
                  <a:srgbClr val="1B3A5E"/>
                </a:solidFill>
                <a:latin typeface="Yu Gothic"/>
                <a:ea typeface="Yu Gothic"/>
              </a:rPr>
              <a:t>確実な保存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71455" y="647395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3AE"/>
                </a:solidFill>
                <a:latin typeface="Yu Gothic"/>
                <a:ea typeface="Yu Gothic"/>
              </a:rPr>
              <a:t>◈ NotebookLM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93776"/>
            <a:ext cx="100584" cy="786384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E"/>
                </a:solidFill>
                <a:latin typeface="Yu Gothic"/>
                <a:ea typeface="Yu Gothic"/>
              </a:rPr>
              <a:t>地域の生活リズムに合わせた、</a:t>
            </a:r>
          </a:p>
          <a:p>
            <a:pPr algn="l"/>
            <a:r>
              <a:rPr sz="3000" b="1">
                <a:solidFill>
                  <a:srgbClr val="1B3A5E"/>
                </a:solidFill>
                <a:latin typeface="Yu Gothic"/>
                <a:ea typeface="Yu Gothic"/>
              </a:rPr>
              <a:t>新しい施設の在り方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89607" y="2423160"/>
            <a:ext cx="8412480" cy="1143000"/>
          </a:xfrm>
          <a:prstGeom prst="roundRect">
            <a:avLst>
              <a:gd name="adj" fmla="val 7000"/>
            </a:avLst>
          </a:prstGeom>
          <a:solidFill>
            <a:srgbClr val="4F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2532888"/>
            <a:ext cx="1554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Yu Gothic"/>
                <a:ea typeface="Yu Gothic"/>
              </a:rPr>
              <a:t>【週末】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18407" y="2514600"/>
            <a:ext cx="63093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Yu Gothic"/>
                <a:ea typeface="Yu Gothic"/>
              </a:rPr>
              <a:t>スポーツと活気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64127" y="3136391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F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4127" y="3136391"/>
            <a:ext cx="10607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B3A5E"/>
                </a:solidFill>
                <a:latin typeface="Yu Gothic"/>
                <a:ea typeface="Yu Gothic"/>
              </a:rPr>
              <a:t>少年野球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2847" y="3136391"/>
            <a:ext cx="14356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F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3136391"/>
            <a:ext cx="1435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B3A5E"/>
                </a:solidFill>
                <a:latin typeface="Yu Gothic"/>
                <a:ea typeface="Yu Gothic"/>
              </a:rPr>
              <a:t>地域スポーツ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6471" y="3136391"/>
            <a:ext cx="124815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F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6471" y="3136391"/>
            <a:ext cx="12481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B3A5E"/>
                </a:solidFill>
                <a:latin typeface="Yu Gothic"/>
                <a:ea typeface="Yu Gothic"/>
              </a:rPr>
              <a:t>家族の交流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92643" y="3136391"/>
            <a:ext cx="14356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F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92643" y="3136391"/>
            <a:ext cx="1435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B3A5E"/>
                </a:solidFill>
                <a:latin typeface="Yu Gothic"/>
                <a:ea typeface="Yu Gothic"/>
              </a:rPr>
              <a:t>地域イベント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49527" y="3675887"/>
            <a:ext cx="9692640" cy="1143000"/>
          </a:xfrm>
          <a:prstGeom prst="roundRect">
            <a:avLst>
              <a:gd name="adj" fmla="val 7000"/>
            </a:avLst>
          </a:prstGeom>
          <a:solidFill>
            <a:srgbClr val="EFB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69567" y="3785615"/>
            <a:ext cx="1554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B3A5E"/>
                </a:solidFill>
                <a:latin typeface="Yu Gothic"/>
                <a:ea typeface="Yu Gothic"/>
              </a:rPr>
              <a:t>【平日】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8327" y="3767327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B3A5E"/>
                </a:solidFill>
                <a:latin typeface="Yu Gothic"/>
                <a:ea typeface="Yu Gothic"/>
              </a:rPr>
              <a:t>地域活動と居場所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24047" y="4389120"/>
            <a:ext cx="19979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FB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24047" y="4389120"/>
            <a:ext cx="19979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B3A5E"/>
                </a:solidFill>
                <a:latin typeface="Yu Gothic"/>
                <a:ea typeface="Yu Gothic"/>
              </a:rPr>
              <a:t>高齢者の健康づくり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0027" y="4389120"/>
            <a:ext cx="14356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FB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0027" y="4389120"/>
            <a:ext cx="1435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B3A5E"/>
                </a:solidFill>
                <a:latin typeface="Yu Gothic"/>
                <a:ea typeface="Yu Gothic"/>
              </a:rPr>
              <a:t>ウォーキング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3651" y="4389120"/>
            <a:ext cx="23728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FB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3651" y="4389120"/>
            <a:ext cx="23728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B3A5E"/>
                </a:solidFill>
                <a:latin typeface="Yu Gothic"/>
                <a:ea typeface="Yu Gothic"/>
              </a:rPr>
              <a:t>学び・交流・見守りの場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447" y="4928616"/>
            <a:ext cx="10972800" cy="1143000"/>
          </a:xfrm>
          <a:prstGeom prst="roundRect">
            <a:avLst>
              <a:gd name="adj" fmla="val 7000"/>
            </a:avLst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487" y="5038344"/>
            <a:ext cx="1554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Yu Gothic"/>
                <a:ea typeface="Yu Gothic"/>
              </a:rPr>
              <a:t>【常時】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8247" y="5020055"/>
            <a:ext cx="8869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Yu Gothic"/>
                <a:ea typeface="Yu Gothic"/>
              </a:rPr>
              <a:t>管理と安全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83967" y="5641848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83967" y="5641848"/>
            <a:ext cx="685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B3A5E"/>
                </a:solidFill>
                <a:latin typeface="Yu Gothic"/>
                <a:ea typeface="Yu Gothic"/>
              </a:rPr>
              <a:t>清掃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7783" y="5641848"/>
            <a:ext cx="8732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7783" y="5641848"/>
            <a:ext cx="8732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B3A5E"/>
                </a:solidFill>
                <a:latin typeface="Yu Gothic"/>
                <a:ea typeface="Yu Gothic"/>
              </a:rPr>
              <a:t>草刈り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9051" y="5641848"/>
            <a:ext cx="124815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9051" y="5641848"/>
            <a:ext cx="12481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B3A5E"/>
                </a:solidFill>
                <a:latin typeface="Yu Gothic"/>
                <a:ea typeface="Yu Gothic"/>
              </a:rPr>
              <a:t>駐車場管理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5223" y="5641848"/>
            <a:ext cx="124815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75223" y="5641848"/>
            <a:ext cx="12481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B3A5E"/>
                </a:solidFill>
                <a:latin typeface="Yu Gothic"/>
                <a:ea typeface="Yu Gothic"/>
              </a:rPr>
              <a:t>トイレ管理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51395" y="5641848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1395" y="5641848"/>
            <a:ext cx="10607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B3A5E"/>
                </a:solidFill>
                <a:latin typeface="Yu Gothic"/>
                <a:ea typeface="Yu Gothic"/>
              </a:rPr>
              <a:t>安全管理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40115" y="5641848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40115" y="5641848"/>
            <a:ext cx="10607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B3A5E"/>
                </a:solidFill>
                <a:latin typeface="Yu Gothic"/>
                <a:ea typeface="Yu Gothic"/>
              </a:rPr>
              <a:t>近隣対応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28835" y="5641848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28835" y="5641848"/>
            <a:ext cx="10607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B3A5E"/>
                </a:solidFill>
                <a:latin typeface="Yu Gothic"/>
                <a:ea typeface="Yu Gothic"/>
              </a:rPr>
              <a:t>緊急連絡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6172200"/>
            <a:ext cx="10545775" cy="5486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651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6172200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3A5E"/>
                </a:solidFill>
                <a:latin typeface="Yu Gothic"/>
                <a:ea typeface="Yu Gothic"/>
              </a:rPr>
              <a:t>週末はスポーツ、平日は地域活動。そして常時は「管理と安全」が支えます。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71455" y="647395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3AE"/>
                </a:solidFill>
                <a:latin typeface="Yu Gothic"/>
                <a:ea typeface="Yu Gothic"/>
              </a:rPr>
              <a:t>◈ NotebookLM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93776"/>
            <a:ext cx="100584" cy="475488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E"/>
                </a:solidFill>
                <a:latin typeface="Yu Gothic"/>
                <a:ea typeface="Yu Gothic"/>
              </a:rPr>
              <a:t>加曽利町に還元される多様な地域プログラム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20239"/>
            <a:ext cx="3657600" cy="3657600"/>
          </a:xfrm>
          <a:prstGeom prst="ellipse">
            <a:avLst/>
          </a:prstGeom>
          <a:noFill/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331720"/>
            <a:ext cx="2834640" cy="2834640"/>
          </a:xfrm>
          <a:prstGeom prst="ellipse">
            <a:avLst/>
          </a:prstGeom>
          <a:noFill/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2743199"/>
            <a:ext cx="2011680" cy="2011680"/>
          </a:xfrm>
          <a:prstGeom prst="ellipse">
            <a:avLst/>
          </a:prstGeom>
          <a:noFill/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737360" y="2880359"/>
            <a:ext cx="1737360" cy="1737360"/>
          </a:xfrm>
          <a:prstGeom prst="diamond">
            <a:avLst/>
          </a:prstGeom>
          <a:solidFill>
            <a:srgbClr val="3E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39112" y="3182111"/>
            <a:ext cx="1133856" cy="1133856"/>
          </a:xfrm>
          <a:prstGeom prst="ellipse">
            <a:avLst/>
          </a:prstGeom>
          <a:noFill/>
          <a:ln w="12700">
            <a:solidFill>
              <a:srgbClr val="BF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880359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  <a:ea typeface="Yu Gothic"/>
              </a:rPr>
              <a:t>Field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371600"/>
            <a:ext cx="5577840" cy="1408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4F8C3F"/>
            </a:solidFill>
          </a:ln>
          <a:effectLst/>
          <a:effectLst>
            <a:outerShdw blurRad="40000" dist="25000" dir="5400000" rotWithShape="0">
              <a:srgbClr val="2A2A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0" y="1371600"/>
            <a:ext cx="5577840" cy="502920"/>
          </a:xfrm>
          <a:prstGeom prst="roundRect">
            <a:avLst>
              <a:gd name="adj" fmla="val 6000"/>
            </a:avLst>
          </a:prstGeom>
          <a:solidFill>
            <a:srgbClr val="4F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627632"/>
            <a:ext cx="5577840" cy="246888"/>
          </a:xfrm>
          <a:prstGeom prst="rect">
            <a:avLst/>
          </a:prstGeom>
          <a:solidFill>
            <a:srgbClr val="4F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371600"/>
            <a:ext cx="5212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スポーツ・健康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938528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⚾  少年野球・地域スポーツへの協力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304288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👟  高齢者向けの軽運動・健康づくり推進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2066544"/>
            <a:ext cx="2148839" cy="22860"/>
          </a:xfrm>
          <a:prstGeom prst="rect">
            <a:avLst/>
          </a:prstGeom>
          <a:solidFill>
            <a:srgbClr val="4F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35040" y="2907792"/>
            <a:ext cx="5577840" cy="1408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FB61E"/>
            </a:solidFill>
          </a:ln>
          <a:effectLst/>
          <a:effectLst>
            <a:outerShdw blurRad="40000" dist="25000" dir="5400000" rotWithShape="0">
              <a:srgbClr val="2A2A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35040" y="2907792"/>
            <a:ext cx="5577840" cy="502920"/>
          </a:xfrm>
          <a:prstGeom prst="roundRect">
            <a:avLst>
              <a:gd name="adj" fmla="val 6000"/>
            </a:avLst>
          </a:prstGeom>
          <a:solidFill>
            <a:srgbClr val="EFB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3163824"/>
            <a:ext cx="5577840" cy="246888"/>
          </a:xfrm>
          <a:prstGeom prst="rect">
            <a:avLst/>
          </a:prstGeom>
          <a:solidFill>
            <a:srgbClr val="EFB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907792"/>
            <a:ext cx="5212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3A5E"/>
                </a:solidFill>
                <a:latin typeface="Yu Gothic"/>
                <a:ea typeface="Yu Gothic"/>
              </a:rPr>
              <a:t>学び・就労支援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474720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📖  日本語教室・学習支援の提供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840480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🤝  職業訓練・就労に向けた支援の実施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86200" y="3602736"/>
            <a:ext cx="2148839" cy="22860"/>
          </a:xfrm>
          <a:prstGeom prst="rect">
            <a:avLst/>
          </a:prstGeom>
          <a:solidFill>
            <a:srgbClr val="EFB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35040" y="4443984"/>
            <a:ext cx="5577840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4633C"/>
            </a:solidFill>
          </a:ln>
          <a:effectLst/>
          <a:effectLst>
            <a:outerShdw blurRad="40000" dist="25000" dir="5400000" rotWithShape="0">
              <a:srgbClr val="2A2A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40" y="4443984"/>
            <a:ext cx="5577840" cy="502920"/>
          </a:xfrm>
          <a:prstGeom prst="roundRect">
            <a:avLst>
              <a:gd name="adj" fmla="val 6000"/>
            </a:avLst>
          </a:prstGeom>
          <a:solidFill>
            <a:srgbClr val="C46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4700016"/>
            <a:ext cx="5577840" cy="246888"/>
          </a:xfrm>
          <a:prstGeom prst="rect">
            <a:avLst/>
          </a:prstGeom>
          <a:solidFill>
            <a:srgbClr val="C46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443984"/>
            <a:ext cx="5212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地域交流・自治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5010912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👪  親子向けイベントの開催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5376672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🏠  自治会・地域団体との連携および地域行事への協力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5742432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B3A5E"/>
                </a:solidFill>
                <a:latin typeface="Yu Gothic"/>
                <a:ea typeface="Yu Gothic"/>
              </a:rPr>
              <a:t>🧹  地域清掃活動の共同実施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86200" y="5321808"/>
            <a:ext cx="2148839" cy="22860"/>
          </a:xfrm>
          <a:prstGeom prst="rect">
            <a:avLst/>
          </a:prstGeom>
          <a:solidFill>
            <a:srgbClr val="C46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03920" y="6309360"/>
            <a:ext cx="310896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6309360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B3A5E"/>
                </a:solidFill>
                <a:latin typeface="Yu Gothic"/>
                <a:ea typeface="Yu Gothic"/>
              </a:rPr>
              <a:t>地元の方々や関係団体との関係づくりを大切にし、</a:t>
            </a:r>
          </a:p>
          <a:p>
            <a:pPr algn="ctr"/>
            <a:r>
              <a:rPr sz="900" b="0">
                <a:solidFill>
                  <a:srgbClr val="1B3A5E"/>
                </a:solidFill>
                <a:latin typeface="Yu Gothic"/>
                <a:ea typeface="Yu Gothic"/>
              </a:rPr>
              <a:t>無理のない形で活動を広げます。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71455" y="647395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3AE"/>
                </a:solidFill>
                <a:latin typeface="Yu Gothic"/>
                <a:ea typeface="Yu Gothic"/>
              </a:rPr>
              <a:t>◈ NotebookLM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93776"/>
            <a:ext cx="100584" cy="786384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E"/>
                </a:solidFill>
                <a:latin typeface="Yu Gothic"/>
                <a:ea typeface="Yu Gothic"/>
              </a:rPr>
              <a:t>段階的な育成プロセス：</a:t>
            </a:r>
          </a:p>
          <a:p>
            <a:pPr algn="l"/>
            <a:r>
              <a:rPr sz="3000" b="1">
                <a:solidFill>
                  <a:srgbClr val="1B3A5E"/>
                </a:solidFill>
                <a:latin typeface="Yu Gothic"/>
                <a:ea typeface="Yu Gothic"/>
              </a:rPr>
              <a:t>最初から「完成形」を求めない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212080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1B3A5E"/>
          </a:solidFill>
          <a:ln>
            <a:noFill/>
          </a:ln>
          <a:effectLst/>
          <a:effectLst>
            <a:outerShdw blurRad="40000" dist="25000" dir="5400000" rotWithShape="0">
              <a:srgbClr val="2A2A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417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Step 1: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基盤整備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4160520"/>
            <a:ext cx="2423160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55A60"/>
                </a:solidFill>
                <a:latin typeface="Yu Gothic"/>
                <a:ea typeface="Yu Gothic"/>
              </a:rPr>
              <a:t>管理責任者・連絡窓口の明確化、現地の利用状況と課題の整理。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498848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C4633C"/>
          </a:solidFill>
          <a:ln>
            <a:noFill/>
          </a:ln>
          <a:effectLst/>
          <a:effectLst>
            <a:outerShdw blurRad="40000" dist="25000" dir="5400000" rotWithShape="0">
              <a:srgbClr val="2A2A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4773168"/>
            <a:ext cx="1417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Step 2: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体制構築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447288"/>
            <a:ext cx="2423160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55A60"/>
                </a:solidFill>
                <a:latin typeface="Yu Gothic"/>
                <a:ea typeface="Yu Gothic"/>
              </a:rPr>
              <a:t>駐車場・トイレ・清掃の管理体制づくり、利用ルールの作成、会計管理の整備。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785616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EFB61E"/>
          </a:solidFill>
          <a:ln>
            <a:noFill/>
          </a:ln>
          <a:effectLst/>
          <a:effectLst>
            <a:outerShdw blurRad="40000" dist="25000" dir="5400000" rotWithShape="0">
              <a:srgbClr val="2A2A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59936"/>
            <a:ext cx="1417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B3A5E"/>
                </a:solidFill>
                <a:latin typeface="Yu Gothic"/>
                <a:ea typeface="Yu Gothic"/>
              </a:rPr>
              <a:t>Step 3:</a:t>
            </a:r>
          </a:p>
          <a:p>
            <a:pPr algn="ctr"/>
            <a:r>
              <a:rPr sz="1500" b="1">
                <a:solidFill>
                  <a:srgbClr val="1B3A5E"/>
                </a:solidFill>
                <a:latin typeface="Yu Gothic"/>
                <a:ea typeface="Yu Gothic"/>
              </a:rPr>
              <a:t>地域対話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734056"/>
            <a:ext cx="2423160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55A60"/>
                </a:solidFill>
                <a:latin typeface="Yu Gothic"/>
                <a:ea typeface="Yu Gothic"/>
              </a:rPr>
              <a:t>地域活動に使いやすい運営方法の検討、関係団体との綿密な意見交換。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072384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4F8C3F"/>
          </a:solidFill>
          <a:ln>
            <a:noFill/>
          </a:ln>
          <a:effectLst/>
          <a:effectLst>
            <a:outerShdw blurRad="40000" dist="25000" dir="5400000" rotWithShape="0">
              <a:srgbClr val="2A2A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3346704"/>
            <a:ext cx="1417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Step 4: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段階的開放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20824"/>
            <a:ext cx="2423160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55A60"/>
                </a:solidFill>
                <a:latin typeface="Yu Gothic"/>
                <a:ea typeface="Yu Gothic"/>
              </a:rPr>
              <a:t>日常管理を徹底しながら、段階的に「地域に開かれた施設」として運用開始。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983480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983480"/>
            <a:ext cx="3291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大きな形を急ぐのではなく、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日常管理を整えながら施設を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育てていきます。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7395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3AE"/>
                </a:solidFill>
                <a:latin typeface="Yu Gothic"/>
                <a:ea typeface="Yu Gothic"/>
              </a:rPr>
              <a:t>◈ NotebookLM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48056"/>
            <a:ext cx="100584" cy="475488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E"/>
                </a:solidFill>
                <a:latin typeface="Yu Gothic"/>
                <a:ea typeface="Yu Gothic"/>
              </a:rPr>
              <a:t>まとめ：民間施設を「公共の価値」へ変換する共生モデル</a:t>
            </a:r>
          </a:p>
        </p:txBody>
      </p:sp>
      <p:sp>
        <p:nvSpPr>
          <p:cNvPr id="5" name="Gear 9 4"/>
          <p:cNvSpPr/>
          <p:nvPr/>
        </p:nvSpPr>
        <p:spPr>
          <a:xfrm>
            <a:off x="1828800" y="2377440"/>
            <a:ext cx="1828800" cy="1828800"/>
          </a:xfrm>
          <a:prstGeom prst="gear9">
            <a:avLst/>
          </a:prstGeom>
          <a:solidFill>
            <a:srgbClr val="3E6E9C"/>
          </a:solidFill>
          <a:ln>
            <a:noFill/>
          </a:ln>
          <a:effectLst/>
          <a:effectLst>
            <a:outerShdw blurRad="40000" dist="25000" dir="5400000" rotWithShape="0">
              <a:srgbClr val="2A2A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25980" y="2674620"/>
            <a:ext cx="1234440" cy="1234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25980" y="2720339"/>
            <a:ext cx="1234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3E6E9C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8820" y="3200400"/>
            <a:ext cx="1508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B3A5E"/>
                </a:solidFill>
                <a:latin typeface="Yu Gothic"/>
                <a:ea typeface="Yu Gothic"/>
              </a:rPr>
              <a:t>［確実な法人運営］</a:t>
            </a:r>
          </a:p>
          <a:p>
            <a:pPr algn="ctr"/>
            <a:r>
              <a:rPr sz="950" b="0">
                <a:solidFill>
                  <a:srgbClr val="555A60"/>
                </a:solidFill>
                <a:latin typeface="Yu Gothic"/>
                <a:ea typeface="Yu Gothic"/>
              </a:rPr>
              <a:t>一般社団法人による</a:t>
            </a:r>
          </a:p>
          <a:p>
            <a:pPr algn="ctr"/>
            <a:r>
              <a:rPr sz="950" b="0">
                <a:solidFill>
                  <a:srgbClr val="555A60"/>
                </a:solidFill>
                <a:latin typeface="Yu Gothic"/>
                <a:ea typeface="Yu Gothic"/>
              </a:rPr>
              <a:t>責任とルールの徹底</a:t>
            </a:r>
          </a:p>
        </p:txBody>
      </p:sp>
      <p:sp>
        <p:nvSpPr>
          <p:cNvPr id="9" name="Gear 9 8"/>
          <p:cNvSpPr/>
          <p:nvPr/>
        </p:nvSpPr>
        <p:spPr>
          <a:xfrm>
            <a:off x="5074920" y="3017520"/>
            <a:ext cx="1828800" cy="1828800"/>
          </a:xfrm>
          <a:prstGeom prst="gear9">
            <a:avLst/>
          </a:prstGeom>
          <a:solidFill>
            <a:srgbClr val="C4633C"/>
          </a:solidFill>
          <a:ln>
            <a:noFill/>
          </a:ln>
          <a:effectLst/>
          <a:effectLst>
            <a:outerShdw blurRad="40000" dist="25000" dir="5400000" rotWithShape="0">
              <a:srgbClr val="2A2A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72100" y="3314700"/>
            <a:ext cx="1234440" cy="1234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46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72100" y="3360420"/>
            <a:ext cx="1234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C4633C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4940" y="3840480"/>
            <a:ext cx="1508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B3A5E"/>
                </a:solidFill>
                <a:latin typeface="Yu Gothic"/>
                <a:ea typeface="Yu Gothic"/>
              </a:rPr>
              <a:t>［盤石な日常管理］</a:t>
            </a:r>
          </a:p>
          <a:p>
            <a:pPr algn="ctr"/>
            <a:r>
              <a:rPr sz="950" b="0">
                <a:solidFill>
                  <a:srgbClr val="555A60"/>
                </a:solidFill>
                <a:latin typeface="Yu Gothic"/>
                <a:ea typeface="Yu Gothic"/>
              </a:rPr>
              <a:t>安全、衛生、駐車場、</a:t>
            </a:r>
          </a:p>
          <a:p>
            <a:pPr algn="ctr"/>
            <a:r>
              <a:rPr sz="950" b="0">
                <a:solidFill>
                  <a:srgbClr val="555A60"/>
                </a:solidFill>
                <a:latin typeface="Yu Gothic"/>
                <a:ea typeface="Yu Gothic"/>
              </a:rPr>
              <a:t>連絡体制の維持</a:t>
            </a:r>
          </a:p>
        </p:txBody>
      </p:sp>
      <p:sp>
        <p:nvSpPr>
          <p:cNvPr id="13" name="Gear 9 12"/>
          <p:cNvSpPr/>
          <p:nvPr/>
        </p:nvSpPr>
        <p:spPr>
          <a:xfrm>
            <a:off x="8321040" y="2377440"/>
            <a:ext cx="1828800" cy="1828800"/>
          </a:xfrm>
          <a:prstGeom prst="gear9">
            <a:avLst/>
          </a:prstGeom>
          <a:solidFill>
            <a:srgbClr val="4F8C3F"/>
          </a:solidFill>
          <a:ln>
            <a:noFill/>
          </a:ln>
          <a:effectLst/>
          <a:effectLst>
            <a:outerShdw blurRad="40000" dist="25000" dir="5400000" rotWithShape="0">
              <a:srgbClr val="2A2A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18219" y="2674620"/>
            <a:ext cx="1234440" cy="1234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F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8219" y="2720339"/>
            <a:ext cx="1234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4F8C3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1059" y="3200400"/>
            <a:ext cx="1508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B3A5E"/>
                </a:solidFill>
                <a:latin typeface="Yu Gothic"/>
                <a:ea typeface="Yu Gothic"/>
              </a:rPr>
              <a:t>［豊かな地域活用］</a:t>
            </a:r>
          </a:p>
          <a:p>
            <a:pPr algn="ctr"/>
            <a:r>
              <a:rPr sz="950" b="0">
                <a:solidFill>
                  <a:srgbClr val="555A60"/>
                </a:solidFill>
                <a:latin typeface="Yu Gothic"/>
                <a:ea typeface="Yu Gothic"/>
              </a:rPr>
              <a:t>週末のスポーツ、</a:t>
            </a:r>
          </a:p>
          <a:p>
            <a:pPr algn="ctr"/>
            <a:r>
              <a:rPr sz="950" b="0">
                <a:solidFill>
                  <a:srgbClr val="555A60"/>
                </a:solidFill>
                <a:latin typeface="Yu Gothic"/>
                <a:ea typeface="Yu Gothic"/>
              </a:rPr>
              <a:t>平日の学びと居場所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78308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3A5E"/>
                </a:solidFill>
                <a:latin typeface="Yu Gothic"/>
                <a:ea typeface="Yu Gothic"/>
              </a:rPr>
              <a:t>Kyosei</a:t>
            </a:r>
          </a:p>
          <a:p>
            <a:pPr algn="ctr"/>
            <a:r>
              <a:rPr sz="1500" b="1">
                <a:solidFill>
                  <a:srgbClr val="1B3A5E"/>
                </a:solidFill>
                <a:latin typeface="Yu Gothic"/>
                <a:ea typeface="Yu Gothic"/>
              </a:rPr>
              <a:t>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532120"/>
            <a:ext cx="11368735" cy="1005840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91153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地商ボールパークは、確かな管理体制（一般社団法人）を土台として、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千葉市加曽利町に貢献する「地域に開かれた民間施設」へと進化します。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1455" y="647395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3AE"/>
                </a:solidFill>
                <a:latin typeface="Yu Gothic"/>
                <a:ea typeface="Yu Gothic"/>
              </a:rPr>
              <a:t>◈ NotebookLM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